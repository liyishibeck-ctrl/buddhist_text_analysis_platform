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9848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100" b="1">
                <a:solidFill>
                  <a:srgbClr val="2F2618"/>
                </a:solidFill>
                <a:latin typeface="Microsoft YaHei"/>
              </a:rPr>
              <a:t>云上取经：三传承佛典主题星图研究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572768"/>
            <a:ext cx="9601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700" b="0">
                <a:solidFill>
                  <a:srgbClr val="685840"/>
                </a:solidFill>
                <a:latin typeface="Microsoft YaHei"/>
              </a:rPr>
              <a:t>基于段落 embedding、卷/章级聚合与质心核心文本的比较分析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31720"/>
            <a:ext cx="3154680" cy="219456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478024"/>
            <a:ext cx="282549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F2618"/>
                </a:solidFill>
                <a:latin typeface="Microsoft YaHei"/>
              </a:rPr>
              <a:t>研究对象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862072"/>
            <a:ext cx="2825496" cy="1536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>
                <a:solidFill>
                  <a:srgbClr val="2F2618"/>
                </a:solidFill>
                <a:latin typeface="Microsoft YaHei"/>
              </a:rPr>
              <a:t>汉传、巴利、藏传三套佛典语料；研究重点不是单篇释义，而是三传承文本在向量空间中的主题组织方式。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331720"/>
            <a:ext cx="3154680" cy="219456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478024"/>
            <a:ext cx="282549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F2618"/>
                </a:solidFill>
                <a:latin typeface="Microsoft YaHei"/>
              </a:rPr>
              <a:t>核心方法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862072"/>
            <a:ext cx="2825496" cy="1536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>
                <a:solidFill>
                  <a:srgbClr val="2F2618"/>
                </a:solidFill>
                <a:latin typeface="Microsoft YaHei"/>
              </a:rPr>
              <a:t>以 segment embedding 为基础，聚合成卷、作品或章级 section-window，再用 k=12 聚类寻找每个传统内部的主题星系。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3154680" cy="219456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478024"/>
            <a:ext cx="282549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F2618"/>
                </a:solidFill>
                <a:latin typeface="Microsoft YaHei"/>
              </a:rPr>
              <a:t>阅读策略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862072"/>
            <a:ext cx="2825496" cy="1536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>
                <a:solidFill>
                  <a:srgbClr val="2F2618"/>
                </a:solidFill>
                <a:latin typeface="Microsoft YaHei"/>
              </a:rPr>
              <a:t>每个 cluster 读取离 centroid 最近的 top-12 core units，结合正文/gloss 样本判断共享主题、边界文本与星系命名。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806440"/>
            <a:ext cx="97840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85840"/>
                </a:solidFill>
                <a:latin typeface="Microsoft YaHei"/>
              </a:rPr>
              <a:t>数据产物：unit_embedding_theme_map.json · centroid_core_research_summary.md · concept_system_map.svg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6473952"/>
            <a:ext cx="1645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85840"/>
                </a:solidFill>
                <a:latin typeface="Microsoft YaHei"/>
              </a:rPr>
              <a:t>云上取经主题星图研究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F2618"/>
                </a:solidFill>
                <a:latin typeface="Microsoft YaHei"/>
              </a:rPr>
              <a:t>研究背景：从“关键词”走向“语义地形”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50" b="0">
                <a:solidFill>
                  <a:srgbClr val="685840"/>
                </a:solidFill>
                <a:latin typeface="Microsoft YaHei"/>
              </a:rPr>
              <a:t>为什么不能只看“苦 / 空 / 佛”等高频词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43584"/>
            <a:ext cx="10972800" cy="18288"/>
          </a:xfrm>
          <a:prstGeom prst="rect">
            <a:avLst/>
          </a:prstGeom>
          <a:solidFill>
            <a:srgbClr val="D2B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6473952"/>
            <a:ext cx="1645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85840"/>
                </a:solidFill>
                <a:latin typeface="Microsoft YaHei"/>
              </a:rPr>
              <a:t>云上取经主题星图研究 ·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12080" cy="406908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37360"/>
            <a:ext cx="488289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F2618"/>
                </a:solidFill>
                <a:latin typeface="Microsoft YaHei"/>
              </a:rPr>
              <a:t>问题起点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167128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早期图中出现“苦佛、佛空、空佛”等标签，暴露了词频命名的局限。</a:t>
            </a:r>
          </a:p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字面相似不等于主题相同；关键是词被放入什么修行、叙事和哲学结构。</a:t>
            </a:r>
          </a:p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需要从单个段落走向更稳定的卷、作品、章级单位。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212080" cy="406908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737360"/>
            <a:ext cx="488289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F2618"/>
                </a:solidFill>
                <a:latin typeface="Microsoft YaHei"/>
              </a:rPr>
              <a:t>研究转向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167128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用 embedding 捕捉语义邻近，用聚类识别主题区块。</a:t>
            </a:r>
          </a:p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用质心核心文本作为解释入口，但不把它当权威排名。</a:t>
            </a:r>
          </a:p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最终目标是比较三传承如何组织共同佛教问题：苦、空、修行、解脱、菩提。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F2618"/>
                </a:solidFill>
                <a:latin typeface="Microsoft YaHei"/>
              </a:rPr>
              <a:t>语料与单位：三传承规模对齐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50" b="0">
                <a:solidFill>
                  <a:srgbClr val="685840"/>
                </a:solidFill>
                <a:latin typeface="Microsoft YaHei"/>
              </a:rPr>
              <a:t>从 segment 到卷/作品/章级 unit 的聚合设计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43584"/>
            <a:ext cx="10972800" cy="18288"/>
          </a:xfrm>
          <a:prstGeom prst="rect">
            <a:avLst/>
          </a:prstGeom>
          <a:solidFill>
            <a:srgbClr val="D2B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6473952"/>
            <a:ext cx="1645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85840"/>
                </a:solidFill>
                <a:latin typeface="Microsoft YaHei"/>
              </a:rPr>
              <a:t>云上取经主题星图研究 · 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91640"/>
          <a:ext cx="10469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097280"/>
                <a:gridCol w="2423160"/>
                <a:gridCol w="4892040"/>
                <a:gridCol w="91440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</a:t>
                      </a:r>
                    </a:p>
                  </a:txBody>
                  <a:tcPr>
                    <a:solidFill>
                      <a:srgbClr val="8F4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单位数</a:t>
                      </a:r>
                    </a:p>
                  </a:txBody>
                  <a:tcPr>
                    <a:solidFill>
                      <a:srgbClr val="8F4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Embedding</a:t>
                      </a:r>
                    </a:p>
                  </a:txBody>
                  <a:tcPr>
                    <a:solidFill>
                      <a:srgbClr val="8F4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聚合规则</a:t>
                      </a:r>
                    </a:p>
                  </a:txBody>
                  <a:tcPr>
                    <a:solidFill>
                      <a:srgbClr val="8F4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Clusters</a:t>
                      </a:r>
                    </a:p>
                  </a:txBody>
                  <a:tcPr>
                    <a:solidFill>
                      <a:srgbClr val="8F4F2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汉传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3404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doubao-embedding-vision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长文本按卷；短文本按作品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巴利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3421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text-embedding-3-large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按 sutta / text 聚合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藏传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2627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text-embedding-3-large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84000 长经切成约 120 segments 的 section-window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4572000"/>
            <a:ext cx="10607040" cy="96012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718304"/>
            <a:ext cx="1027785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F2618"/>
                </a:solidFill>
                <a:latin typeface="Microsoft YaHei"/>
              </a:rPr>
              <a:t>为什么藏传要章级化？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5102352"/>
            <a:ext cx="10277856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>
                <a:solidFill>
                  <a:srgbClr val="2F2618"/>
                </a:solidFill>
                <a:latin typeface="Microsoft YaHei"/>
              </a:rPr>
              <a:t>原始藏传只有约 240 个整部经单位，很多长经被压成一个点。改成 section-window 后变成 2627 个章级点，使长经内部的三昧、般若、佛国、业报等主题漂移可见。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F2618"/>
                </a:solidFill>
                <a:latin typeface="Microsoft YaHei"/>
              </a:rPr>
              <a:t>方法流程：从数据库到概念体系图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50" b="0">
                <a:solidFill>
                  <a:srgbClr val="685840"/>
                </a:solidFill>
                <a:latin typeface="Microsoft YaHei"/>
              </a:rPr>
              <a:t>一个可复现的主题星图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43584"/>
            <a:ext cx="10972800" cy="18288"/>
          </a:xfrm>
          <a:prstGeom prst="rect">
            <a:avLst/>
          </a:prstGeom>
          <a:solidFill>
            <a:srgbClr val="D2B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6473952"/>
            <a:ext cx="1645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85840"/>
                </a:solidFill>
                <a:latin typeface="Microsoft YaHei"/>
              </a:rPr>
              <a:t>云上取经主题星图研究 ·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423160" cy="233172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20824"/>
            <a:ext cx="209397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8F4F23"/>
                </a:solidFill>
                <a:latin typeface="Microsoft YaHei"/>
              </a:rPr>
              <a:t>1. 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04872"/>
            <a:ext cx="2093976" cy="167335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F2618"/>
                </a:solidFill>
                <a:latin typeface="Microsoft YaHei"/>
              </a:rPr>
              <a:t>segment embeddings 入库，保存 tradition、field、model、dimensions。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54680" y="3017520"/>
            <a:ext cx="393192" cy="0"/>
          </a:xfrm>
          <a:prstGeom prst="line">
            <a:avLst/>
          </a:prstGeom>
          <a:ln w="25400">
            <a:solidFill>
              <a:srgbClr val="8F4F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93591" y="1874519"/>
            <a:ext cx="2423160" cy="233172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58183" y="2020824"/>
            <a:ext cx="209397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8F4F23"/>
                </a:solidFill>
                <a:latin typeface="Microsoft YaHei"/>
              </a:rPr>
              <a:t>2. Aggregate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3" y="2404872"/>
            <a:ext cx="2093976" cy="167335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F2618"/>
                </a:solidFill>
                <a:latin typeface="Microsoft YaHei"/>
              </a:rPr>
              <a:t>汉传按卷，巴利按文本，藏传按章级窗口；unit 内向量取平均。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16752" y="3017520"/>
            <a:ext cx="393192" cy="0"/>
          </a:xfrm>
          <a:prstGeom prst="line">
            <a:avLst/>
          </a:prstGeom>
          <a:ln w="25400">
            <a:solidFill>
              <a:srgbClr val="8F4F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55664" y="1874519"/>
            <a:ext cx="2423160" cy="233172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5" y="2020824"/>
            <a:ext cx="209397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8F4F23"/>
                </a:solidFill>
                <a:latin typeface="Microsoft YaHei"/>
              </a:rPr>
              <a:t>3. 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5" y="2404872"/>
            <a:ext cx="2093976" cy="167335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F2618"/>
                </a:solidFill>
                <a:latin typeface="Microsoft YaHei"/>
              </a:rPr>
              <a:t>每个传统独立 k=12 MiniBatchKMeans；PCA 投影为二维星图。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78824" y="3017520"/>
            <a:ext cx="393192" cy="0"/>
          </a:xfrm>
          <a:prstGeom prst="line">
            <a:avLst/>
          </a:prstGeom>
          <a:ln w="25400">
            <a:solidFill>
              <a:srgbClr val="8F4F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317736" y="1874519"/>
            <a:ext cx="2423160" cy="233172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2328" y="2020824"/>
            <a:ext cx="209397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8F4F23"/>
                </a:solidFill>
                <a:latin typeface="Microsoft YaHei"/>
              </a:rPr>
              <a:t>4. Interpret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2404872"/>
            <a:ext cx="2093976" cy="167335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F2618"/>
                </a:solidFill>
                <a:latin typeface="Microsoft YaHei"/>
              </a:rPr>
              <a:t>每个 cluster 读取 top-12 core units，写共享主题与边界文本。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800600"/>
            <a:ext cx="10287000" cy="71323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4946904"/>
            <a:ext cx="995781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F2618"/>
                </a:solidFill>
                <a:latin typeface="Microsoft YaHei"/>
              </a:rPr>
              <a:t>输出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" y="5330952"/>
            <a:ext cx="9957816" cy="548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>
                <a:solidFill>
                  <a:srgbClr val="2F2618"/>
                </a:solidFill>
                <a:latin typeface="Microsoft YaHei"/>
              </a:rPr>
              <a:t>主题星图 JSON、质心证据笔记、top-12 研究摘要、概念体系图 SVG、前端可视化页面。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F2618"/>
                </a:solidFill>
                <a:latin typeface="Microsoft YaHei"/>
              </a:rPr>
              <a:t>质心阅读法：从“典型点”到“星系命名”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50" b="0">
                <a:solidFill>
                  <a:srgbClr val="685840"/>
                </a:solidFill>
                <a:latin typeface="Microsoft YaHei"/>
              </a:rPr>
              <a:t>Top-12 core units 如何避免单文本误判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43584"/>
            <a:ext cx="10972800" cy="18288"/>
          </a:xfrm>
          <a:prstGeom prst="rect">
            <a:avLst/>
          </a:prstGeom>
          <a:solidFill>
            <a:srgbClr val="D2B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6473952"/>
            <a:ext cx="1645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85840"/>
                </a:solidFill>
                <a:latin typeface="Microsoft YaHei"/>
              </a:rPr>
              <a:t>云上取经主题星图研究 ·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331720" cy="347472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929384"/>
            <a:ext cx="20025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F2618"/>
                </a:solidFill>
                <a:latin typeface="Microsoft YaHei"/>
              </a:rPr>
              <a:t>Centroid 不是权威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13432"/>
            <a:ext cx="2002536" cy="2816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>
                <a:solidFill>
                  <a:srgbClr val="2F2618"/>
                </a:solidFill>
                <a:latin typeface="Microsoft YaHei"/>
              </a:rPr>
              <a:t>质心核心表示语义典型性，不是经典地位、历史优先性或宗派权威。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783080"/>
            <a:ext cx="2331720" cy="347472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929384"/>
            <a:ext cx="20025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F2618"/>
                </a:solidFill>
                <a:latin typeface="Microsoft YaHei"/>
              </a:rPr>
              <a:t>Top-12 投票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313432"/>
            <a:ext cx="2002536" cy="2816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>
                <a:solidFill>
                  <a:srgbClr val="2F2618"/>
                </a:solidFill>
                <a:latin typeface="Microsoft YaHei"/>
              </a:rPr>
              <a:t>观察前 12 个核心单位的作品重复、题材聚集、正文语法和边界文本。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83080"/>
            <a:ext cx="2331720" cy="347472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929384"/>
            <a:ext cx="20025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F2618"/>
                </a:solidFill>
                <a:latin typeface="Microsoft YaHei"/>
              </a:rPr>
              <a:t>证据抽样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313432"/>
            <a:ext cx="2002536" cy="2816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>
                <a:solidFill>
                  <a:srgbClr val="2F2618"/>
                </a:solidFill>
                <a:latin typeface="Microsoft YaHei"/>
              </a:rPr>
              <a:t>每个 core unit 抽首/中/末样本；巴利和藏传优先使用 gloss。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1783080"/>
            <a:ext cx="2331720" cy="347472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1929384"/>
            <a:ext cx="20025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F2618"/>
                </a:solidFill>
                <a:latin typeface="Microsoft YaHei"/>
              </a:rPr>
              <a:t>命名原则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2" y="2313432"/>
            <a:ext cx="2002536" cy="2816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>
                <a:solidFill>
                  <a:srgbClr val="2F2618"/>
                </a:solidFill>
                <a:latin typeface="Microsoft YaHei"/>
              </a:rPr>
              <a:t>星系名由共享主题与区分度共同决定，避免“苦空佛”式词频命名。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F2618"/>
                </a:solidFill>
                <a:latin typeface="Microsoft YaHei"/>
              </a:rPr>
              <a:t>汉传结果：大乘经藏系统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50" b="0">
                <a:solidFill>
                  <a:srgbClr val="685840"/>
                </a:solidFill>
                <a:latin typeface="Microsoft YaHei"/>
              </a:rPr>
              <a:t>般若矩阵、菩萨三昧、护法宇宙与故事伦理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43584"/>
            <a:ext cx="10972800" cy="18288"/>
          </a:xfrm>
          <a:prstGeom prst="rect">
            <a:avLst/>
          </a:prstGeom>
          <a:solidFill>
            <a:srgbClr val="D2B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6473952"/>
            <a:ext cx="1645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85840"/>
                </a:solidFill>
                <a:latin typeface="Microsoft YaHei"/>
              </a:rPr>
              <a:t>云上取经主题星图研究 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074920" cy="1691640"/>
          </a:xfrm>
          <a:prstGeom prst="roundRect">
            <a:avLst/>
          </a:prstGeom>
          <a:solidFill>
            <a:srgbClr val="ECD1AB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92224"/>
            <a:ext cx="47457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8B4F23"/>
                </a:solidFill>
                <a:latin typeface="Microsoft YaHei"/>
              </a:rPr>
              <a:t>般若矩阵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76272"/>
            <a:ext cx="4745736" cy="10332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2F2618"/>
                </a:solidFill>
                <a:latin typeface="Microsoft YaHei"/>
              </a:rPr>
              <a:t>《大般若》分出多个子星系：总摄波罗蜜、三世皆空、真如法界清净、般若供养护持、无二无生方便。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074920" cy="1691640"/>
          </a:xfrm>
          <a:prstGeom prst="roundRect">
            <a:avLst/>
          </a:prstGeom>
          <a:solidFill>
            <a:srgbClr val="ECD1AB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1792224"/>
            <a:ext cx="47457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8B4F23"/>
                </a:solidFill>
                <a:latin typeface="Microsoft YaHei"/>
              </a:rPr>
              <a:t>菩萨三昧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2176272"/>
            <a:ext cx="4745736" cy="10332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2F2618"/>
                </a:solidFill>
                <a:latin typeface="Microsoft YaHei"/>
              </a:rPr>
              <a:t>《月燈三昧經》等把外在供养转化为戒、问法、智慧、离慢与利益众生。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03320"/>
            <a:ext cx="5074920" cy="1691640"/>
          </a:xfrm>
          <a:prstGeom prst="roundRect">
            <a:avLst/>
          </a:prstGeom>
          <a:solidFill>
            <a:srgbClr val="ECD1AB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849624"/>
            <a:ext cx="47457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8B4F23"/>
                </a:solidFill>
                <a:latin typeface="Microsoft YaHei"/>
              </a:rPr>
              <a:t>护法宇宙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233672"/>
            <a:ext cx="4745736" cy="10332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2F2618"/>
                </a:solidFill>
                <a:latin typeface="Microsoft YaHei"/>
              </a:rPr>
              <a:t>《大集》《仁王》《宝云》等把修行者、国家、护法神、佛国和未来受记连在一起。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03320"/>
            <a:ext cx="5074920" cy="1691640"/>
          </a:xfrm>
          <a:prstGeom prst="roundRect">
            <a:avLst/>
          </a:prstGeom>
          <a:solidFill>
            <a:srgbClr val="ECD1AB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3849624"/>
            <a:ext cx="47457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8B4F23"/>
                </a:solidFill>
                <a:latin typeface="Microsoft YaHei"/>
              </a:rPr>
              <a:t>故事佛性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4233672"/>
            <a:ext cx="4745736" cy="10332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2F2618"/>
                </a:solidFill>
                <a:latin typeface="Microsoft YaHei"/>
              </a:rPr>
              <a:t>《贤愚》《六度集》讲业报伦理；《涅槃经》把涅槃推向如来常住与法性。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89320"/>
            <a:ext cx="10332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8B4F23"/>
                </a:solidFill>
                <a:latin typeface="Microsoft YaHei"/>
              </a:rPr>
              <a:t>核心语法：空性总摄 → 菩萨行 → 佛国/佛性救度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F2618"/>
                </a:solidFill>
                <a:latin typeface="Microsoft YaHei"/>
              </a:rPr>
              <a:t>巴利结果：修行操作系统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50" b="0">
                <a:solidFill>
                  <a:srgbClr val="685840"/>
                </a:solidFill>
                <a:latin typeface="Microsoft YaHei"/>
              </a:rPr>
              <a:t>把经验拆开，把修道变成可执行模块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43584"/>
            <a:ext cx="10972800" cy="18288"/>
          </a:xfrm>
          <a:prstGeom prst="rect">
            <a:avLst/>
          </a:prstGeom>
          <a:solidFill>
            <a:srgbClr val="D2B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6473952"/>
            <a:ext cx="1645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85840"/>
                </a:solidFill>
                <a:latin typeface="Microsoft YaHei"/>
              </a:rPr>
              <a:t>云上取经主题星图研究 ·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423160" cy="3291840"/>
          </a:xfrm>
          <a:prstGeom prst="roundRect">
            <a:avLst/>
          </a:prstGeom>
          <a:solidFill>
            <a:srgbClr val="CADED8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75104"/>
            <a:ext cx="209397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316259"/>
                </a:solidFill>
                <a:latin typeface="Microsoft YaHei"/>
              </a:rPr>
              <a:t>经验诊断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9152"/>
            <a:ext cx="2093976" cy="2633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2F2618"/>
                </a:solidFill>
                <a:latin typeface="Microsoft YaHei"/>
              </a:rPr>
              <a:t>SN12、SN22、SN35 围绕缘起、五蕴、六处，拆解经验如何生起以及执取如何形成。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1828800"/>
            <a:ext cx="2423160" cy="3291840"/>
          </a:xfrm>
          <a:prstGeom prst="roundRect">
            <a:avLst/>
          </a:prstGeom>
          <a:solidFill>
            <a:srgbClr val="CADED8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2463" y="1975104"/>
            <a:ext cx="209397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316259"/>
                </a:solidFill>
                <a:latin typeface="Microsoft YaHei"/>
              </a:rPr>
              <a:t>训练规程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2463" y="2359152"/>
            <a:ext cx="2093976" cy="2633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2F2618"/>
                </a:solidFill>
                <a:latin typeface="Microsoft YaHei"/>
              </a:rPr>
              <a:t>戒、定、慧、八正道、禅那、断贪十想被组织成可重复训练模块。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9944" y="1828800"/>
            <a:ext cx="2423160" cy="3291840"/>
          </a:xfrm>
          <a:prstGeom prst="roundRect">
            <a:avLst/>
          </a:prstGeom>
          <a:solidFill>
            <a:srgbClr val="CADED8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1975104"/>
            <a:ext cx="209397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316259"/>
                </a:solidFill>
                <a:latin typeface="Microsoft YaHei"/>
              </a:rPr>
              <a:t>法数目录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359152"/>
            <a:ext cx="2093976" cy="2633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2F2618"/>
                </a:solidFill>
                <a:latin typeface="Microsoft YaHei"/>
              </a:rPr>
              <a:t>DN33/DN34 与大量短经形成记忆系统：一法、二法、多法清单用于诵持和教学。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2016" y="1828800"/>
            <a:ext cx="2423160" cy="3291840"/>
          </a:xfrm>
          <a:prstGeom prst="roundRect">
            <a:avLst/>
          </a:prstGeom>
          <a:solidFill>
            <a:srgbClr val="CADED8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36608" y="1975104"/>
            <a:ext cx="209397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316259"/>
                </a:solidFill>
                <a:latin typeface="Microsoft YaHei"/>
              </a:rPr>
              <a:t>制度秩序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8" y="2359152"/>
            <a:ext cx="2093976" cy="2633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2F2618"/>
                </a:solidFill>
                <a:latin typeface="Microsoft YaHei"/>
              </a:rPr>
              <a:t>DN16 和 AN10 探讨佛灭后法/律延续、僧团资格、授戒条件。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89320"/>
            <a:ext cx="10332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316259"/>
                </a:solidFill>
                <a:latin typeface="Microsoft YaHei"/>
              </a:rPr>
              <a:t>核心语法：分析经验 → 训练身心 → 证得涅槃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F2618"/>
                </a:solidFill>
                <a:latin typeface="Microsoft YaHei"/>
              </a:rPr>
              <a:t>藏传结果：章级经部星云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50" b="0">
                <a:solidFill>
                  <a:srgbClr val="685840"/>
                </a:solidFill>
                <a:latin typeface="Microsoft YaHei"/>
              </a:rPr>
              <a:t>section-window 让长经内部主题漂移显现出来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43584"/>
            <a:ext cx="10972800" cy="18288"/>
          </a:xfrm>
          <a:prstGeom prst="rect">
            <a:avLst/>
          </a:prstGeom>
          <a:solidFill>
            <a:srgbClr val="D2B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6473952"/>
            <a:ext cx="1645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85840"/>
                </a:solidFill>
                <a:latin typeface="Microsoft YaHei"/>
              </a:rPr>
              <a:t>云上取经主题星图研究 ·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074920" cy="1691640"/>
          </a:xfrm>
          <a:prstGeom prst="roundRect">
            <a:avLst/>
          </a:prstGeom>
          <a:solidFill>
            <a:srgbClr val="D8DEED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92224"/>
            <a:ext cx="47457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485381"/>
                </a:solidFill>
                <a:latin typeface="Microsoft YaHei"/>
              </a:rPr>
              <a:t>切分有效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76272"/>
            <a:ext cx="4745736" cy="10332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2F2618"/>
                </a:solidFill>
                <a:latin typeface="Microsoft YaHei"/>
              </a:rPr>
              <a:t>同一部《贤劫经》被分出三昧护教愿力与未来佛谱系两个不同星系。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074920" cy="1691640"/>
          </a:xfrm>
          <a:prstGeom prst="roundRect">
            <a:avLst/>
          </a:prstGeom>
          <a:solidFill>
            <a:srgbClr val="D8DEED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1792224"/>
            <a:ext cx="47457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485381"/>
                </a:solidFill>
                <a:latin typeface="Microsoft YaHei"/>
              </a:rPr>
              <a:t>三昧护教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2176272"/>
            <a:ext cx="4745736" cy="10332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2F2618"/>
                </a:solidFill>
                <a:latin typeface="Microsoft YaHei"/>
              </a:rPr>
              <a:t>《王三昧经》《不舍佛》《维摩诘》等显示菩萨如何承担佛法、护持众生。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03320"/>
            <a:ext cx="5074920" cy="1691640"/>
          </a:xfrm>
          <a:prstGeom prst="roundRect">
            <a:avLst/>
          </a:prstGeom>
          <a:solidFill>
            <a:srgbClr val="D8DEED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849624"/>
            <a:ext cx="47457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485381"/>
                </a:solidFill>
                <a:latin typeface="Microsoft YaHei"/>
              </a:rPr>
              <a:t>长般若层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233672"/>
            <a:ext cx="4745736" cy="10332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2F2618"/>
                </a:solidFill>
                <a:latin typeface="Microsoft YaHei"/>
              </a:rPr>
              <a:t>《十八千颂》《二万五千颂》《十千颂》围绕不住诸法、自性空、道与果不可实体化展开。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03320"/>
            <a:ext cx="5074920" cy="1691640"/>
          </a:xfrm>
          <a:prstGeom prst="roundRect">
            <a:avLst/>
          </a:prstGeom>
          <a:solidFill>
            <a:srgbClr val="D8DEED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3849624"/>
            <a:ext cx="47457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485381"/>
                </a:solidFill>
                <a:latin typeface="Microsoft YaHei"/>
              </a:rPr>
              <a:t>可视化伦理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4233672"/>
            <a:ext cx="4745736" cy="10332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2F2618"/>
                </a:solidFill>
                <a:latin typeface="Microsoft YaHei"/>
              </a:rPr>
              <a:t>《百业经》《圣法念处经》用业报故事、天界放逸和宇宙地理将伦理心理图像化。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89320"/>
            <a:ext cx="10332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485381"/>
                </a:solidFill>
                <a:latin typeface="Microsoft YaHei"/>
              </a:rPr>
              <a:t>核心语法：章级展开 → 菩萨宇宙 → 三昧/般若星云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F2618"/>
                </a:solidFill>
                <a:latin typeface="Microsoft YaHei"/>
              </a:rPr>
              <a:t>比较发现：同一问题，不同概念机器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50" b="0">
                <a:solidFill>
                  <a:srgbClr val="685840"/>
                </a:solidFill>
                <a:latin typeface="Microsoft YaHei"/>
              </a:rPr>
              <a:t>三传承如何组织“苦、空、修行、解脱”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43584"/>
            <a:ext cx="10972800" cy="18288"/>
          </a:xfrm>
          <a:prstGeom prst="rect">
            <a:avLst/>
          </a:prstGeom>
          <a:solidFill>
            <a:srgbClr val="D2B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6473952"/>
            <a:ext cx="1645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85840"/>
                </a:solidFill>
                <a:latin typeface="Microsoft YaHei"/>
              </a:rPr>
              <a:t>云上取经主题星图研究 ·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5448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971800"/>
                <a:gridCol w="3063240"/>
                <a:gridCol w="3474720"/>
              </a:tblGrid>
              <a:tr h="77724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>
                    <a:solidFill>
                      <a:srgbClr val="8F4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巴利</a:t>
                      </a:r>
                    </a:p>
                  </a:txBody>
                  <a:tcPr>
                    <a:solidFill>
                      <a:srgbClr val="8F4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汉传</a:t>
                      </a:r>
                    </a:p>
                  </a:txBody>
                  <a:tcPr>
                    <a:solidFill>
                      <a:srgbClr val="8F4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藏传</a:t>
                      </a:r>
                    </a:p>
                  </a:txBody>
                  <a:tcPr>
                    <a:solidFill>
                      <a:srgbClr val="8F4F2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苦与无明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诊断经验机制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放入菩萨救度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业报地理与叙事可视化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空与无我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五蕴/六处非我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般若总摄与法界清净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不住道、果、空、菩萨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修行主体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比丘/圣弟子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菩萨、法师、护法共同体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菩萨、未来佛、三昧承担者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文本形态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公式、目录、问答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经论大藏与护法叙事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2F2618"/>
                          </a:solidFill>
                          <a:latin typeface="Microsoft YaHei"/>
                        </a:defRPr>
                      </a:pPr>
                      <a:r>
                        <a:t>长经章级星云</a:t>
                      </a:r>
                    </a:p>
                  </a:txBody>
                  <a:tcPr>
                    <a:solidFill>
                      <a:srgbClr val="FFFA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580644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8F4F23"/>
                </a:solidFill>
                <a:latin typeface="Microsoft YaHei"/>
              </a:rPr>
              <a:t>结论：三传承不是在重复同一组关键词，而是在用不同概念机器处理同一解脱问题。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F2618"/>
                </a:solidFill>
                <a:latin typeface="Microsoft YaHei"/>
              </a:rPr>
              <a:t>概念体系图：训练、经藏与星云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50" b="0">
                <a:solidFill>
                  <a:srgbClr val="685840"/>
                </a:solidFill>
                <a:latin typeface="Microsoft YaHei"/>
              </a:rPr>
              <a:t>把 36 个星系压缩成一张可解释结构图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43584"/>
            <a:ext cx="10972800" cy="18288"/>
          </a:xfrm>
          <a:prstGeom prst="rect">
            <a:avLst/>
          </a:prstGeom>
          <a:solidFill>
            <a:srgbClr val="D2B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6473952"/>
            <a:ext cx="1645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85840"/>
                </a:solidFill>
                <a:latin typeface="Microsoft YaHei"/>
              </a:rPr>
              <a:t>云上取经主题星图研究 ·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246120" cy="4160520"/>
          </a:xfrm>
          <a:prstGeom prst="roundRect">
            <a:avLst/>
          </a:prstGeom>
          <a:solidFill>
            <a:srgbClr val="CADED8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37360"/>
            <a:ext cx="29169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F2618"/>
                </a:solidFill>
                <a:latin typeface="Microsoft YaHei"/>
              </a:rPr>
              <a:t>巴利：训练系统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167128"/>
            <a:ext cx="2834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诊断层：缘起 / 五蕴 / 六处</a:t>
            </a:r>
          </a:p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实践层：戒定慧 / 八正道 / 禅那</a:t>
            </a:r>
          </a:p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记忆层：法数目录 / 短经公式</a:t>
            </a:r>
          </a:p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制度层：佛灭后秩序 / 僧团资格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246120" cy="4160520"/>
          </a:xfrm>
          <a:prstGeom prst="roundRect">
            <a:avLst/>
          </a:prstGeom>
          <a:solidFill>
            <a:srgbClr val="ECD1AB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29169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F2618"/>
                </a:solidFill>
                <a:latin typeface="Microsoft YaHei"/>
              </a:rPr>
              <a:t>汉传：大乘经藏系统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2167128"/>
            <a:ext cx="2834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般若矩阵：空 / 无二 / 法界清净</a:t>
            </a:r>
          </a:p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菩萨三昧：念佛 / 真实供养</a:t>
            </a:r>
          </a:p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护法宇宙：大集 / 仁王 / 佛国</a:t>
            </a:r>
          </a:p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故事与佛性：本缘业报 / 常住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63256" y="1600200"/>
            <a:ext cx="3246120" cy="4160520"/>
          </a:xfrm>
          <a:prstGeom prst="roundRect">
            <a:avLst/>
          </a:prstGeom>
          <a:solidFill>
            <a:srgbClr val="D8DEED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1737360"/>
            <a:ext cx="29169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F2618"/>
                </a:solidFill>
                <a:latin typeface="Microsoft YaHei"/>
              </a:rPr>
              <a:t>藏传：章级经部星云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2167128"/>
            <a:ext cx="2834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三昧护教：善根 / 不舍佛</a:t>
            </a:r>
          </a:p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经部宇宙：佛国 / 陀罗尼 / 十地</a:t>
            </a:r>
          </a:p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长般若：不住诸法 / 自性空</a:t>
            </a:r>
          </a:p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可视化伦理：百业 / 法念处 / 未来佛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515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685840"/>
                </a:solidFill>
                <a:latin typeface="Microsoft YaHei"/>
              </a:rPr>
              <a:t>读图方式：不是把三传承强行合并，而是看它们如何围绕同一解脱问题生成不同体系。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F2618"/>
                </a:solidFill>
                <a:latin typeface="Microsoft YaHei"/>
              </a:rPr>
              <a:t>结论与下一步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50" b="0">
                <a:solidFill>
                  <a:srgbClr val="685840"/>
                </a:solidFill>
                <a:latin typeface="Microsoft YaHei"/>
              </a:rPr>
              <a:t>从主题星图走向可解释佛典知识图谱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43584"/>
            <a:ext cx="10972800" cy="18288"/>
          </a:xfrm>
          <a:prstGeom prst="rect">
            <a:avLst/>
          </a:prstGeom>
          <a:solidFill>
            <a:srgbClr val="D2B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6473952"/>
            <a:ext cx="1645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85840"/>
                </a:solidFill>
                <a:latin typeface="Microsoft YaHei"/>
              </a:rPr>
              <a:t>云上取经主题星图研究 ·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20640" cy="429768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479145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F2618"/>
                </a:solidFill>
                <a:latin typeface="Microsoft YaHei"/>
              </a:rPr>
              <a:t>主要结论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167128"/>
            <a:ext cx="4709159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完成三传承从正文、embedding、unit 聚合、cluster 质心到概念体系图的闭环。</a:t>
            </a:r>
          </a:p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巴利组织训练，汉传组织大乘经藏宇宙，藏传章级展开呈现三昧、般若、佛国、业报星云。</a:t>
            </a:r>
          </a:p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Top-12 质心阅读能避免词频命名，把星系解释建立在正文证据上。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120640" cy="429768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D2B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737360"/>
            <a:ext cx="479145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F2618"/>
                </a:solidFill>
                <a:latin typeface="Microsoft YaHei"/>
              </a:rPr>
              <a:t>限制与后续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167128"/>
            <a:ext cx="4709159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汉传与巴利/藏传 embedding model 不完全一致，跨传统绝对距离需谨慎。</a:t>
            </a:r>
          </a:p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藏传 section-window 是代理章级，后续应导入 84000 TEI 真实章节。</a:t>
            </a:r>
          </a:p>
          <a:p>
            <a:pPr>
              <a:spcAft>
                <a:spcPts val="500"/>
              </a:spcAft>
              <a:defRPr sz="1150">
                <a:solidFill>
                  <a:srgbClr val="2F2618"/>
                </a:solidFill>
                <a:latin typeface="Microsoft YaHei"/>
              </a:defRPr>
            </a:pPr>
            <a:r>
              <a:t>• 把星系名、共享主题、边界文本写回 JSON 和前端，支持点击星系即读证据。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